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0" b="0">
                <a:solidFill>
                  <a:srgbClr val="FFFFFF"/>
                </a:solidFill>
                <a:latin typeface="Calibri"/>
              </a:rPr>
              <a:t>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011680"/>
            <a:ext cx="8503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PersonalGM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017520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0F2FE"/>
                </a:solidFill>
                <a:latin typeface="Calibri"/>
              </a:rPr>
              <a:t>Your AI chess coach — built on YOUR data, never on hallucinations.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93192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OpenAI Codex / Outskill External Hackathon · 25 – 31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4A6E"/>
                </a:solidFill>
                <a:latin typeface="Calibri"/>
              </a:rPr>
              <a:t>Every improving chess player above 1200 hits the same wall.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Calibri"/>
              </a:rPr>
              <a:t>After 50+ games online you know you're stuck — but no tool tells you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11858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● </a:t>
            </a:r>
            <a:r>
              <a:rPr sz="1500" b="1">
                <a:solidFill>
                  <a:srgbClr val="1E293B"/>
                </a:solidFill>
                <a:latin typeface="Calibri"/>
              </a:rPr>
              <a:t>Generic engine analysis. </a:t>
            </a:r>
            <a:r>
              <a:rPr sz="1500" b="0">
                <a:solidFill>
                  <a:srgbClr val="1E293B"/>
                </a:solidFill>
                <a:latin typeface="Calibri"/>
              </a:rPr>
              <a:t>Stockfish says “-1.2 here” but never explains the pattern across your games.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● </a:t>
            </a:r>
            <a:r>
              <a:rPr sz="1500" b="1">
                <a:solidFill>
                  <a:srgbClr val="1E293B"/>
                </a:solidFill>
                <a:latin typeface="Calibri"/>
              </a:rPr>
              <a:t>Chess YouTube + coaching content. </a:t>
            </a:r>
            <a:r>
              <a:rPr sz="1500" b="0">
                <a:solidFill>
                  <a:srgbClr val="1E293B"/>
                </a:solidFill>
                <a:latin typeface="Calibri"/>
              </a:rPr>
              <a:t>Excellent for principles, useless for YOUR specific blind spots.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● </a:t>
            </a:r>
            <a:r>
              <a:rPr sz="1500" b="1">
                <a:solidFill>
                  <a:srgbClr val="1E293B"/>
                </a:solidFill>
                <a:latin typeface="Calibri"/>
              </a:rPr>
              <a:t>Random puzzle apps. </a:t>
            </a:r>
            <a:r>
              <a:rPr sz="1500" b="0">
                <a:solidFill>
                  <a:srgbClr val="1E293B"/>
                </a:solidFill>
                <a:latin typeface="Calibri"/>
              </a:rPr>
              <a:t>5M puzzles, no targeting. You drill motifs you already know, ignore the ones killing you.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● </a:t>
            </a:r>
            <a:r>
              <a:rPr sz="1500" b="1">
                <a:solidFill>
                  <a:srgbClr val="1E293B"/>
                </a:solidFill>
                <a:latin typeface="Calibri"/>
              </a:rPr>
              <a:t>Coaches cost $50–200 / hour. </a:t>
            </a:r>
            <a:r>
              <a:rPr sz="1500" b="0">
                <a:solidFill>
                  <a:srgbClr val="1E293B"/>
                </a:solidFill>
                <a:latin typeface="Calibri"/>
              </a:rPr>
              <a:t>Most amateurs can't afford weekly sessions, let alone game-by-game review.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● </a:t>
            </a:r>
            <a:r>
              <a:rPr sz="1500" b="1">
                <a:solidFill>
                  <a:srgbClr val="1E293B"/>
                </a:solidFill>
                <a:latin typeface="Calibri"/>
              </a:rPr>
              <a:t>Vanilla ChatGPT hallucinates chess. </a:t>
            </a:r>
            <a:r>
              <a:rPr sz="1500" b="0">
                <a:solidFill>
                  <a:srgbClr val="1E293B"/>
                </a:solidFill>
                <a:latin typeface="Calibri"/>
              </a:rPr>
              <a:t>Invents moves, miscounts squares, can't run an engine. Confident wrong answers.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● </a:t>
            </a:r>
            <a:r>
              <a:rPr sz="1500" b="1">
                <a:solidFill>
                  <a:srgbClr val="1E293B"/>
                </a:solidFill>
                <a:latin typeface="Calibri"/>
              </a:rPr>
              <a:t>Result. </a:t>
            </a:r>
            <a:r>
              <a:rPr sz="1500" b="0">
                <a:solidFill>
                  <a:srgbClr val="1E293B"/>
                </a:solidFill>
                <a:latin typeface="Calibri"/>
              </a:rPr>
              <a:t>You play, lose, repeat — without a clear, personalized improvement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PersonalGM · OpenAI Codex / Outskill Hackathon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4A6E"/>
                </a:solidFill>
                <a:latin typeface="Calibri"/>
              </a:rPr>
              <a:t>PersonalGM — an AI chess coach that operates on YOUR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Multi-agent LangGraph supervisor + 5 specialists. Every output engine-verified, never hallucinated.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5341467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91440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9757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Calibri"/>
              </a:rPr>
              <a:t>📊  Repertoire Health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497570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Pulls your last 100 Lichess games, tiers each opening Strong / Mixed / Weak by score. Recommends the weakest opening to fix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2987" y="2103120"/>
            <a:ext cx="5341467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2987" y="2103120"/>
            <a:ext cx="91440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1587" y="2212848"/>
            <a:ext cx="49757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Calibri"/>
              </a:rPr>
              <a:t>🔍  Engine-Verified Blunder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2606040"/>
            <a:ext cx="497570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Stockfish d18 on every flag. Side-by-side boards: what you played vs. what the engine wanted, with the exact refutation 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5341467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91440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49757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Calibri"/>
              </a:rPr>
              <a:t>⚔️  Opponent Scout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497570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Type your next opponent's username — get their exploitable openings + a 5-bullet prep gameplan, grounded in their last 100 games.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2987" y="3611880"/>
            <a:ext cx="5341467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2987" y="3611880"/>
            <a:ext cx="91440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1587" y="3721608"/>
            <a:ext cx="49757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Calibri"/>
              </a:rPr>
              <a:t>📚  Opening Expert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4114800"/>
            <a:ext cx="497570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Any opening, any ECO code → structured 10-section lesson with rendered SVG boards of the key positions.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20640"/>
            <a:ext cx="5341467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20640"/>
            <a:ext cx="91440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30368"/>
            <a:ext cx="49757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Calibri"/>
              </a:rPr>
              <a:t>🎯  Motif Weakness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497570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Across all flagged moves, the postgame report aggregates the recurring patterns — hanging pieces, back-rank, knight forks — so you target real blind spots, not generic feedback.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2987" y="5120640"/>
            <a:ext cx="5341467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72987" y="5120640"/>
            <a:ext cx="91440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1587" y="5230368"/>
            <a:ext cx="49757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Calibri"/>
              </a:rPr>
              <a:t>⚡  Demo-grade speed via 7-day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1587" y="5623560"/>
            <a:ext cx="497570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Disk-pickle cache short-circuits LLM + Stockfish + Lichess on prewarmed inputs. Cold ~30 s → warm &lt;10 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PersonalGM · OpenAI Codex / Outskill Hackathon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4A6E"/>
                </a:solidFill>
                <a:latin typeface="Calibri"/>
              </a:rPr>
              <a:t>Free, deterministic, judge-trustable. Built end-to-end in 7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Anti-hallucination is engineered, not prayed for: every claim is engine-verified or PGN-sourced.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118585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● </a:t>
            </a:r>
            <a:r>
              <a:rPr sz="1300" b="1">
                <a:solidFill>
                  <a:srgbClr val="1E293B"/>
                </a:solidFill>
                <a:latin typeface="Calibri"/>
              </a:rPr>
              <a:t>OpenAI Codex CLI </a:t>
            </a:r>
            <a:r>
              <a:rPr sz="1300" b="0">
                <a:solidFill>
                  <a:srgbClr val="1E293B"/>
                </a:solidFill>
                <a:latin typeface="Calibri"/>
              </a:rPr>
              <a:t>Built end-to-end with Codex. Each module — state, supervisor, 5 specialists, cache layer — shipped from a Codex spec; tight reviewer-AI loop catches deviations before commit.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● </a:t>
            </a:r>
            <a:r>
              <a:rPr sz="1300" b="1">
                <a:solidFill>
                  <a:srgbClr val="1E293B"/>
                </a:solidFill>
                <a:latin typeface="Calibri"/>
              </a:rPr>
              <a:t>Multi-agent orchestration </a:t>
            </a:r>
            <a:r>
              <a:rPr sz="1300" b="0">
                <a:solidFill>
                  <a:srgbClr val="1E293B"/>
                </a:solidFill>
                <a:latin typeface="Calibri"/>
              </a:rPr>
              <a:t>LangGraph supervisor + 5 specialist nodes. Rule-based intent routing today, LLM-classified tomorrow.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● </a:t>
            </a:r>
            <a:r>
              <a:rPr sz="1300" b="1">
                <a:solidFill>
                  <a:srgbClr val="1E293B"/>
                </a:solidFill>
                <a:latin typeface="Calibri"/>
              </a:rPr>
              <a:t>LLM </a:t>
            </a:r>
            <a:r>
              <a:rPr sz="1300" b="0">
                <a:solidFill>
                  <a:srgbClr val="1E293B"/>
                </a:solidFill>
                <a:latin typeface="Calibri"/>
              </a:rPr>
              <a:t>GPT via LiteLLM proxy. Provider-agnostic surface — same code path supports any OpenAI-compatible model; swap the model name in .env to A/B test.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● </a:t>
            </a:r>
            <a:r>
              <a:rPr sz="1300" b="1">
                <a:solidFill>
                  <a:srgbClr val="1E293B"/>
                </a:solidFill>
                <a:latin typeface="Calibri"/>
              </a:rPr>
              <a:t>Engine ground truth </a:t>
            </a:r>
            <a:r>
              <a:rPr sz="1300" b="0">
                <a:solidFill>
                  <a:srgbClr val="1E293B"/>
                </a:solidFill>
                <a:latin typeface="Calibri"/>
              </a:rPr>
              <a:t>Stockfish 17.1 local UCI (depth 14 / 18) + Lichess cloud-eval fast-path. Fallback chain: &lt;1 s when [%eval] present, ~30 s otherwise.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● </a:t>
            </a:r>
            <a:r>
              <a:rPr sz="1300" b="1">
                <a:solidFill>
                  <a:srgbClr val="1E293B"/>
                </a:solidFill>
                <a:latin typeface="Calibri"/>
              </a:rPr>
              <a:t>Game data </a:t>
            </a:r>
            <a:r>
              <a:rPr sz="1300" b="0">
                <a:solidFill>
                  <a:srgbClr val="1E293B"/>
                </a:solidFill>
                <a:latin typeface="Calibri"/>
              </a:rPr>
              <a:t>Lichess REST API — free, unlimited, no auth for public games. Powers user repertoire, opponent scout, and game-by-URL fetch.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● </a:t>
            </a:r>
            <a:r>
              <a:rPr sz="1300" b="1">
                <a:solidFill>
                  <a:srgbClr val="1E293B"/>
                </a:solidFill>
                <a:latin typeface="Calibri"/>
              </a:rPr>
              <a:t>Chess facts &amp; rendering </a:t>
            </a:r>
            <a:r>
              <a:rPr sz="1300" b="0">
                <a:solidFill>
                  <a:srgbClr val="1E293B"/>
                </a:solidFill>
                <a:latin typeface="Calibri"/>
              </a:rPr>
              <a:t>python-chess (1.11.2). Stateless tool wrappers for every engine fact; deterministic SVG board generation — no LLM ever invents a position.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● </a:t>
            </a:r>
            <a:r>
              <a:rPr sz="1300" b="1">
                <a:solidFill>
                  <a:srgbClr val="1E293B"/>
                </a:solidFill>
                <a:latin typeface="Calibri"/>
              </a:rPr>
              <a:t>Frontend </a:t>
            </a:r>
            <a:r>
              <a:rPr sz="1300" b="0">
                <a:solidFill>
                  <a:srgbClr val="1E293B"/>
                </a:solidFill>
                <a:latin typeface="Calibri"/>
              </a:rPr>
              <a:t>Streamlit — token-streaming Opening Expert, board-by-board streaming Postgame Analyst, live tool-call trace panel in dev mode.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● </a:t>
            </a:r>
            <a:r>
              <a:rPr sz="1300" b="1">
                <a:solidFill>
                  <a:srgbClr val="1E293B"/>
                </a:solidFill>
                <a:latin typeface="Calibri"/>
              </a:rPr>
              <a:t>Performance layer </a:t>
            </a:r>
            <a:r>
              <a:rPr sz="1300" b="0">
                <a:solidFill>
                  <a:srgbClr val="1E293B"/>
                </a:solidFill>
                <a:latin typeface="Calibri"/>
              </a:rPr>
              <a:t>Disk-pickle cache, 7-day TTL, query normalization. ~25,000× speedup on warm calls; survives server restarts.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● </a:t>
            </a:r>
            <a:r>
              <a:rPr sz="1300" b="1">
                <a:solidFill>
                  <a:srgbClr val="1E293B"/>
                </a:solidFill>
                <a:latin typeface="Calibri"/>
              </a:rPr>
              <a:t>Deployment </a:t>
            </a:r>
            <a:r>
              <a:rPr sz="1300" b="0">
                <a:solidFill>
                  <a:srgbClr val="1E293B"/>
                </a:solidFill>
                <a:latin typeface="Calibri"/>
              </a:rPr>
              <a:t>HuggingFace Spaces (packages.txt + Streamlit SDK) primary; Google Cloud Run (Dockerfile) safety net. Public HTTPS URL either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PersonalGM · OpenAI Codex / Outskill Hackathon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IDEAL CUSTOMER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C4A6E"/>
                </a:solidFill>
                <a:latin typeface="Calibri"/>
              </a:rPr>
              <a:t>Online chess improvers, ELO 1200 – 2200.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657600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453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C4A6E"/>
                </a:solidFill>
                <a:latin typeface="Calibri"/>
              </a:rPr>
              <a:t>The Plateaued Improver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ELO 1200 – 2200 on Lichess / Chess.com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Plays 5 – 20 rated games per week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Aged 25 – 45, knowledge-worker, 30+ min / day for chess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Already tried YouTube, generic puzzle apps, engine analysis — all dead-ends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Won't pay $50–200/hr for a coach but WILL pay $5–15/mo for personalized AI coaching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36576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3657600" cy="274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453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C4A6E"/>
                </a:solidFill>
                <a:latin typeface="Calibri"/>
              </a:rPr>
              <a:t>The Tournament Player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About to play a known opponent in a club / online event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Wants tactical scouting in &lt;60 s, not 2 hours of manual prep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Needs a 5-bullet gameplan grounded in real games — not vibes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Often a returning user the night before each tournament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508760"/>
            <a:ext cx="36576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508760"/>
            <a:ext cx="36576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453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TERTIARY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92024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C4A6E"/>
                </a:solidFill>
                <a:latin typeface="Calibri"/>
              </a:rPr>
              <a:t>The Chess Coach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51460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Coaches 5 – 30 students; can't review every student's every game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Uses PersonalGM as a teaching aid: per-student weakness reports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Pulls puzzles tuned to that student's actual blind spots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Saves hours per week of repetitive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Why they pay: outputs are unique to them — cannot be Googled, cannot be produced by a vanilla LLM. 60-second turnaround vs. 1-hour coaching session.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PersonalGM · OpenAI Codex / Outskill Hackathon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